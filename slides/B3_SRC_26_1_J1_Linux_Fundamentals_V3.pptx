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94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B3_SRC_26_1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Système d’exploitation Linux — Jour 1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13232" y="25146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Fondamentaux, administration, systemd et stockage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" y="3136392"/>
            <a:ext cx="3703320" cy="0"/>
          </a:xfrm>
          <a:prstGeom prst="line">
            <a:avLst/>
          </a:prstGeom>
          <a:noFill/>
          <a:ln w="27940">
            <a:solidFill>
              <a:srgbClr val="32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447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Bachelor 3 • Systèmes, Réseaux &amp;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4663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 rouge : vous êtes l’équipe Infrastructure de NovaTech.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510235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 h • théorie courte • pratique intensive • troubleshooting final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 “je sais utiliser Linux” à “je sais administrer un serveur”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1h30 de concepts/démos, puis 5h de laboratoire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93392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4416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COMPRENDRE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5953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Kernel, distribution, shell, filesystem et processus.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349300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993392"/>
            <a:ext cx="393192" cy="393192"/>
          </a:xfrm>
          <a:prstGeom prst="ellipse">
            <a:avLst/>
          </a:prstGeom>
          <a:solidFill>
            <a:srgbClr val="47D59C"/>
          </a:solidFill>
          <a:ln w="12700">
            <a:solidFill>
              <a:srgbClr val="47D5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7880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9417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Identités, permissions, services, paquets et logs.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993392"/>
            <a:ext cx="393192" cy="3931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1344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2881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Disques, filesystems, fstab et LVM.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9162288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993392"/>
            <a:ext cx="393192" cy="3931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075688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48088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DIAGNOSTIQUER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363456" y="2459736"/>
            <a:ext cx="211226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 avant de modifier. Valider après correction.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713232" y="41605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À la fin du Jour 1, votre VM doit être une vraie base de serveur exploitable — pas une installation “qui démarre”.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Qu’est-ce qui distingue “utiliser” Linux d’“administrer” Linux ?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Attendu : identité, services, persistance, sécurité, diagnostic, changement maîtrisé.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 ROUGE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Bienvenue chez NovaTech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Vous récupérez srv-linux01. Dans 2 jours, il devra survivre à un incident P1.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157984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4028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INSTALLER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6968" y="2624328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OS serveur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697480"/>
            <a:ext cx="347472" cy="0"/>
          </a:xfrm>
          <a:prstGeom prst="line">
            <a:avLst/>
          </a:prstGeom>
          <a:noFill/>
          <a:ln w="2286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19933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2157984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24028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EXPLORER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127248" y="2624328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système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347472" cy="0"/>
          </a:xfrm>
          <a:prstGeom prst="line">
            <a:avLst/>
          </a:prstGeom>
          <a:noFill/>
          <a:ln w="2286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9933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0952" y="2157984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224028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DÉLÉGUER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367528" y="2624328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2697480"/>
            <a:ext cx="347472" cy="0"/>
          </a:xfrm>
          <a:prstGeom prst="line">
            <a:avLst/>
          </a:prstGeom>
          <a:noFill/>
          <a:ln w="2286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19933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71232" y="2157984"/>
            <a:ext cx="393192" cy="393192"/>
          </a:xfrm>
          <a:prstGeom prst="ellipse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224028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92440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SERVIR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07808" y="2624328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35440" y="2697480"/>
            <a:ext cx="347472" cy="0"/>
          </a:xfrm>
          <a:prstGeom prst="line">
            <a:avLst/>
          </a:prstGeom>
          <a:noFill/>
          <a:ln w="2286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46920" y="19933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11512" y="2157984"/>
            <a:ext cx="393192" cy="3931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11512" y="2240280"/>
            <a:ext cx="393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21762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PERSISTER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848088" y="2624328"/>
            <a:ext cx="142646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393192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Demain : SSH, automatisation, logs, backup… puis je casse volontairement votre serveur.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1188720" y="461772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Objectif pédagogique : construire aujourd’hui suffisamment proprement pour pouvoir diagnostiquer demain.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Linux est déjà partout autour de vous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Commencez par des usages, pas par 30 minutes d’histoire.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85623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3911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WEB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50976" y="248716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Reverse proxies, serveurs HTTP, bases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17136" y="185623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03911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18304" y="248716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VM, images, services managés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85623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03911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CONTAINERS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85632" y="248716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 et hôtes Kubernetes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327355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45643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RÉSEAU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50976" y="390448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Appliances, firewalls, load balancers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17136" y="327355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45643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CI/CD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18304" y="390448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Runners, build agents, automation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84464" y="327355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3456432"/>
            <a:ext cx="2935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EMBARQUÉ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85632" y="3904488"/>
            <a:ext cx="293522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NAS, box, IoT, équipements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Dans votre quotidien, quel produit “non Linux” repose probablement quand même sur Linux ?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Relancez sur cloud, appliances réseau, conteneurs, pipelines.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 ≠ distribution ≠ shell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Trois mots souvent confondus ; trois rôles différents.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1783080"/>
            <a:ext cx="8229600" cy="694944"/>
          </a:xfrm>
          <a:prstGeom prst="roundRect">
            <a:avLst>
              <a:gd name="adj" fmla="val 5263"/>
            </a:avLst>
          </a:prstGeom>
          <a:solidFill>
            <a:srgbClr val="233256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911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51960" y="19293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 • ssh • bash • apt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697480"/>
            <a:ext cx="8229600" cy="694944"/>
          </a:xfrm>
          <a:prstGeom prst="roundRect">
            <a:avLst>
              <a:gd name="adj" fmla="val 5263"/>
            </a:avLst>
          </a:prstGeom>
          <a:solidFill>
            <a:srgbClr val="1C3560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825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Userspace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51960" y="2843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 • libc • outils GNU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3611880"/>
            <a:ext cx="8229600" cy="694944"/>
          </a:xfrm>
          <a:prstGeom prst="roundRect">
            <a:avLst>
              <a:gd name="adj" fmla="val 5263"/>
            </a:avLst>
          </a:prstGeom>
          <a:solidFill>
            <a:srgbClr val="125070"/>
          </a:solidFill>
          <a:ln w="20320">
            <a:solidFill>
              <a:srgbClr val="32D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739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51960" y="3758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CPU • mémoire • processus • drivers • VFS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4526280"/>
            <a:ext cx="8229600" cy="694944"/>
          </a:xfrm>
          <a:prstGeom prst="roundRect">
            <a:avLst>
              <a:gd name="adj" fmla="val 5263"/>
            </a:avLst>
          </a:prstGeom>
          <a:solidFill>
            <a:srgbClr val="0B6E75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4654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Hardware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51960" y="46725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CPU • RAM • disque • 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 je remplace Bash par Zsh, ai-je “changé Linux” ?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Non : vous avez changé un shell dans l’espace utilisateur.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 se passe-t-il vraiment quand vous tapez une commande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shell orchestre ; le kernel fournit les primitives.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8600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Vous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734056"/>
            <a:ext cx="13807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ls -lah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2788920"/>
            <a:ext cx="246888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228600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Shell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27248" y="2734056"/>
            <a:ext cx="13807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résout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246888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228600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Processus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76088" y="2734056"/>
            <a:ext cx="13807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/usr/bin/ls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788920"/>
            <a:ext cx="246888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2376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28600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Kernel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24928" y="2734056"/>
            <a:ext cx="13807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open/read/stat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06840" y="2788920"/>
            <a:ext cx="246888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7260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3768" y="228600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Matériel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573768" y="2734056"/>
            <a:ext cx="138074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disk / cache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34440" y="4069080"/>
            <a:ext cx="3886200" cy="1234440"/>
          </a:xfrm>
          <a:prstGeom prst="roundRect">
            <a:avLst>
              <a:gd name="adj" fmla="val 4444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4069080"/>
            <a:ext cx="38862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444752" y="4526280"/>
            <a:ext cx="3465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echo $SHELL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command -v ls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uname -r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 /etc/os-release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5532120" y="433425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kernel ne “comprend” pas la commande ls. Il exécute des processus et répond à leurs appels système.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DISTRIBUTIONS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Deux familles à reconnaître, des concepts communs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 mémorisez pas 50 distributions : repérez les familles et les outils.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Debian / Ubuntu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459736"/>
            <a:ext cx="453542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Paquets : .deb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Gestion : apt / dpkg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Exemples : Debian, Ubuntu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Très fréquent en cloud et lab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01168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RHEL / Rocky / Alma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01968" y="2459736"/>
            <a:ext cx="453542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Paquets : .rpm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Gestion : dnf / rpm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Exemples : RHEL, Rocky Linux, AlmaLinux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Très fréquent en entreprise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7823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commandes changent parfois. Les concepts — processus, permissions, systemd, filesystem — restent.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Tout part de / — mais chaque zone a une intention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Savoir où chercher est plus utile que réciter l’arborescence.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/etc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" y="2414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configuration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/var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21608" y="2414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 &amp; données variables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/home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56248" y="2414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données utilisateurs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89720" y="1783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1965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/root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90888" y="2414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home de root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85800" y="2926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108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/usr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6968" y="3557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programmes &amp; libs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520440" y="2926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3108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/opt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721608" y="3557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logiciels additionnels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355080" y="2926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3108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/proc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556248" y="3557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vue processus/kernel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9189720" y="2926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3108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/sys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390888" y="3557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vue matériel/kernel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85800" y="4069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251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/dev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6968" y="4700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périphériques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520440" y="4069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4251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/boot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721608" y="4700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démarrage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6355080" y="4069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4251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/tmp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556248" y="4700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temporaire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89720" y="4069080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90888" y="425196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/srv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9390888" y="4700016"/>
            <a:ext cx="206654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données de services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Je cherche : config nginx ? logs ? vue des processus ? données applicatives ?</a:t>
            </a:r>
            <a:endParaRPr lang="en-US" sz="1220" dirty="0"/>
          </a:p>
        </p:txBody>
      </p:sp>
      <p:sp>
        <p:nvSpPr>
          <p:cNvPr id="48" name="Text 46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/etc • /var/log • /proc • /srv (selon votre convention).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Votre objectif n’est pas de tout mémoriser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Vous devez savoir découvrir une commande et vérifier votre hypothèse.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5623560" cy="3611880"/>
          </a:xfrm>
          <a:prstGeom prst="roundRect">
            <a:avLst>
              <a:gd name="adj" fmla="val 1519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83080"/>
            <a:ext cx="562356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74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TERMINAL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40280"/>
            <a:ext cx="520293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pwd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ls -lah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/etc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 /etc -name "*.conf" 2&gt;/dev/null | head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man ls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ls --help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apropos network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720840" y="187452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2057400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MANTRA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22008" y="2505456"/>
            <a:ext cx="40325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 → comprendre → modifier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324612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2008" y="3429000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AUTONOMIE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22008" y="3877056"/>
            <a:ext cx="40325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 • --help • apropos • documentation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461772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4800600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PIÈGE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22008" y="5248656"/>
            <a:ext cx="403250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Copier une commande sans comprendre son périmètre.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Pipes et redirections : assembler de petits outils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stdin, stdout et stderr sont une interface entre programmes.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03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stdin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2551176"/>
            <a:ext cx="18836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entrée standard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FD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9202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103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commande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38928" y="2551176"/>
            <a:ext cx="18836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 → traite → écrit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19202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21031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stdout / stderr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299448" y="2551176"/>
            <a:ext cx="188366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sortie FD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erreurs FD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2487168"/>
            <a:ext cx="1874520" cy="0"/>
          </a:xfrm>
          <a:prstGeom prst="line">
            <a:avLst/>
          </a:prstGeom>
          <a:noFill/>
          <a:ln w="27940">
            <a:solidFill>
              <a:srgbClr val="47D59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2487168"/>
            <a:ext cx="1828800" cy="0"/>
          </a:xfrm>
          <a:prstGeom prst="line">
            <a:avLst/>
          </a:prstGeom>
          <a:noFill/>
          <a:ln w="2794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456432"/>
            <a:ext cx="5715000" cy="1691640"/>
          </a:xfrm>
          <a:prstGeom prst="roundRect">
            <a:avLst>
              <a:gd name="adj" fmla="val 3243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456432"/>
            <a:ext cx="57150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5478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TERMINAL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4712" y="3913632"/>
            <a:ext cx="5294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ps aux | grep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ip addr &gt; network.txt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command &gt;&gt; history.log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command 2&gt; errors.log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-u nginx | tail -n 20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040880" y="38404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pipe | passe stdout de gauche vers stdin de droite. Il ne transporte pas automatiquement stderr.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“2&gt;/dev/null” peut être utile… et dangereux ?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Utile pour filtrer du bruit ; dangereux si vous masquez une vraie erreur.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Linux administre des UID/GID, pas seulement des noms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noms sont une couche lisible par l’humain.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1168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Utilisateur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459736"/>
            <a:ext cx="284378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UID 1001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GID primaire 1001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Groupes secondaires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01168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81728" y="2459736"/>
            <a:ext cx="284378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developers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 déléguer des droits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82880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201168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Fichiers de comptes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85048" y="2459736"/>
            <a:ext cx="284378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/etc/passwd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/etc/group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/etc/shadow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getent / 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4343400"/>
            <a:ext cx="6629400" cy="960120"/>
          </a:xfrm>
          <a:prstGeom prst="roundRect">
            <a:avLst>
              <a:gd name="adj" fmla="val 5714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4343400"/>
            <a:ext cx="66294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44348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DÉMO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53512" y="4800600"/>
            <a:ext cx="6208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 alice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getent passwd alice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getent group developers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supprimer/recréer un utilisateur peut-il laisser des fichiers “orphelins”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 fichiers portent un UID/GID numérique, pas le nom.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Lire rwx : qui peut faire quoi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Owner • Group • Other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-rwxr-x---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1752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24128" y="3465576"/>
            <a:ext cx="202082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rwx  → 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r=4  w=2  x=1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283464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301752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13048" y="3465576"/>
            <a:ext cx="202082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r-x  → 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r=4  w=2  x=1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01752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OTHER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01968" y="3465576"/>
            <a:ext cx="202082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---  → 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r=4  w=2  x=1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1874520"/>
            <a:ext cx="1920240" cy="2514600"/>
          </a:xfrm>
          <a:prstGeom prst="roundRect">
            <a:avLst>
              <a:gd name="adj" fmla="val 381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8048" y="205740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OUTILS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528048" y="2505456"/>
            <a:ext cx="1517904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chmod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chown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chgrp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umask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0750 : qui peut lire ? écrire ? exécuter/traverser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Faites répondre sans regarder la slide précédente.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Sur un répertoire, x ne veut pas dire “exécuter le dossier”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sens de rwx dépend du type d’objet.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5740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FICHIER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505456"/>
            <a:ext cx="4443984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  → lire le contenu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 → modifier le contenu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  → exécuter le fichier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2057400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RÉPERTOIRE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93408" y="2505456"/>
            <a:ext cx="4443984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  → lister les noms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 → créer/supprimer des entrées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  → traverser / accéder par chemin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répertoire peut être “listable” mais ses fichiers inaccessibles, ou traversable sans être listable.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“r-x” est souvent plus logique que “r--” sur un dossier ?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Sans x, impossible de traverser vers les entrées.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Quand user/group/other ne suffit plus : ACL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Partir du besoin métier avant d’introduire l’outil.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5740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developers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8408" y="2505456"/>
            <a:ext cx="19751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18745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05740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21608" y="2505456"/>
            <a:ext cx="19751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05740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64808" y="2505456"/>
            <a:ext cx="19751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18745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05740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others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08008" y="2505456"/>
            <a:ext cx="19751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aucun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3192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seul groupe “classique” ne peut pas représenter simultanément ces trois politiques.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886200"/>
            <a:ext cx="7360920" cy="1508760"/>
          </a:xfrm>
          <a:prstGeom prst="roundRect">
            <a:avLst>
              <a:gd name="adj" fmla="val 3636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3886200"/>
            <a:ext cx="736092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9776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ACL POSIX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61872" y="4343400"/>
            <a:ext cx="69402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getfacl /srv/company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setfacl -m g:operations:rwx /srv/company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setfacl -m g:audit:r-x /srv/company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setfacl -d -m g:audit:r-x /srv/company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8732520" y="3886200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33688" y="4069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À SURVEILLER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933688" y="4517136"/>
            <a:ext cx="183794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mask ACL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default ACL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SGID groupe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programme en cours d’exécution devient un processus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PID, parent, utilisateur, ressources et signaux.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029200" cy="2926080"/>
          </a:xfrm>
          <a:prstGeom prst="roundRect">
            <a:avLst>
              <a:gd name="adj" fmla="val 1875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50292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TERMINAL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86000"/>
            <a:ext cx="460857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ps aux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ps -ef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top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pgrep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kill -TERM &lt;PID&gt;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kill -KILL &lt;PID&gt;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0116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SIGTERM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19088" y="2459736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Demande un arrêt propre.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201168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SIGKILL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16568" y="2459736"/>
            <a:ext cx="1929384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Arrêt forcé par le kernel.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52044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 commencez pas un diagnostic par kill -9. Vous perdez la possibilité d’un shutdown propre — et parfois des preuves.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le PID 1 est-il particulier sur une machine Linux moderne ?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Il initialise l’espace utilisateur et adopte notamment des processus orphelins.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Processus, daemon, service : trois notions différentes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 décrit comment démarrer, superviser et ordonner des unités.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4884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PROGRAMME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596896"/>
            <a:ext cx="14721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/usr/sbin/nginx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697480"/>
            <a:ext cx="274320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19659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214884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PROCESSUS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81528" y="2596896"/>
            <a:ext cx="14721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PID 1832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274320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19659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214884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DAEMON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21808" y="2596896"/>
            <a:ext cx="14721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long-running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2697480"/>
            <a:ext cx="274320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19659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14884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62088" y="2596896"/>
            <a:ext cx="14721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nginx.service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697480"/>
            <a:ext cx="274320" cy="0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19659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2368" y="214884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802368" y="2596896"/>
            <a:ext cx="147218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supervise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069080"/>
            <a:ext cx="6629400" cy="1051560"/>
          </a:xfrm>
          <a:prstGeom prst="roundRect">
            <a:avLst>
              <a:gd name="adj" fmla="val 5217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069080"/>
            <a:ext cx="66294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DÉMO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953512" y="4526280"/>
            <a:ext cx="6208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 status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 is-active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 is-enabled nginx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3154680" y="53309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= maintenant    •    enable = au prochain boot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Anatomie minimale d’un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 configuration est déclarative : “quoi”, “avec qui”, “que faire en cas d’échec”.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5577840" cy="4069080"/>
          </a:xfrm>
          <a:prstGeom prst="roundRect">
            <a:avLst>
              <a:gd name="adj" fmla="val 1348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91640"/>
            <a:ext cx="557784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83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novatech-agent.service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41832" y="2148840"/>
            <a:ext cx="5157216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[Unit]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Description=NovaTech Agent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After=network-online.target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[Service]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User=novatech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ExecStart=/usr/local/bin/novatech-agent.sh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Restart=on-failure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RestartSec=3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NoNewPrivileges=true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[Install]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WantedBy=multi-user.target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675120" y="18288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201168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[Unit]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76288" y="2459736"/>
            <a:ext cx="4078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dépendances, ordre, description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333756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[Service]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76288" y="3785616"/>
            <a:ext cx="4078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identité, commande, politique de restart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448056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466344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[Install]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76288" y="5111496"/>
            <a:ext cx="407822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cible utilisée lors de enable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faire tourner le service avec User=novatech plutôt que root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Principe du moindre privilège : réduire l’impact d’une compromission ou d’un bug.</a:t>
            </a:r>
            <a:endParaRPr lang="en-US" sz="9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Quand ça casse, cherchez des faits avant de “tester au hasard”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journalctl vous donne le contexte du service, du boot et de la priorité.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257800" cy="2971800"/>
          </a:xfrm>
          <a:prstGeom prst="roundRect">
            <a:avLst>
              <a:gd name="adj" fmla="val 1846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525780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TERMINAL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86000"/>
            <a:ext cx="483717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-u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-u nginx --since "15 minutes ago"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-p err --since today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 -b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dmesg | tail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965960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SYMPTÔME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01968" y="2414016"/>
            <a:ext cx="41239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“HTTP 503”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926080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01968" y="3374136"/>
            <a:ext cx="41239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unit failed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400800" y="370332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886200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01968" y="4334256"/>
            <a:ext cx="41239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 denied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0" y="46634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4846320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HYPOTHÈSE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01968" y="5294376"/>
            <a:ext cx="4123944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droit sur /srv/app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85800" y="5257800"/>
            <a:ext cx="10817352" cy="621792"/>
          </a:xfrm>
          <a:prstGeom prst="roundRect">
            <a:avLst>
              <a:gd name="adj" fmla="val 8824"/>
            </a:avLst>
          </a:prstGeom>
          <a:solidFill>
            <a:srgbClr val="102A2D"/>
          </a:solidFill>
          <a:ln w="15240">
            <a:solidFill>
              <a:srgbClr val="47D5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4132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D59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DÉMO 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56232" y="5376672"/>
            <a:ext cx="9445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Arrêter nginx → systemctl status → journalctl -u nginx → démarrer → valider avec curl.</a:t>
            </a:r>
            <a:endParaRPr lang="en-US" sz="11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PAQUETS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Installer n’est pas seulement “apt install”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Savoir d’où vient le paquet, quelle version est installée et ce qui sera modifié.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534924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APT / DPKG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86000"/>
            <a:ext cx="49286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apt update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apt policy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apt install nginx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dpkg -L nginx | head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apt list --upgradable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537960" y="18288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01168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update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39128" y="2459736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rafraîchit les métadonnées de dépôts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537960" y="301752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320040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upgrade / install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739128" y="3648456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modifie réellement des paquets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537960" y="420624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438912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 / dpkg -L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739128" y="4837176"/>
            <a:ext cx="41696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 version, source et fichiers installés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“apt update” ne met-il pas à jour vos logiciels 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Il met à jour l’index des paquets, pas les paquets installés eux-mêmes.</a:t>
            </a:r>
            <a:endParaRPr lang="en-US" sz="9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STOCKAGE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 disque brut au répertoire utilisable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Chaque couche répond à une question différente.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408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/dev/sdb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75688" y="262432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PV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62432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 physical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95928" y="262432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340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4456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VG_DATA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16168" y="262432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LV_APP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36408" y="262432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504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8504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56648" y="2624328"/>
            <a:ext cx="256032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1965960"/>
            <a:ext cx="1572768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05288" y="21488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MOUNT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305288" y="2596896"/>
            <a:ext cx="117043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/srv/app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3931920"/>
            <a:ext cx="7132320" cy="1417320"/>
          </a:xfrm>
          <a:prstGeom prst="roundRect">
            <a:avLst>
              <a:gd name="adj" fmla="val 3871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3931920"/>
            <a:ext cx="713232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402336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79192" y="4389120"/>
            <a:ext cx="6711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lsblk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blkid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findmnt /srv/app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-hT /srv/app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Est-ce qu’un Logical Volume contient forcément ext4 ?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Non : un LV est un bloc logique. Le filesystem est une couche au-dessus.</a:t>
            </a:r>
            <a:endParaRPr lang="en-US" sz="9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 sépare capacité physique et volumes logiques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but n’est pas “plus de commandes” : c’est plus de flexibilité.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10698480" cy="2926080"/>
          </a:xfrm>
          <a:prstGeom prst="roundRect">
            <a:avLst>
              <a:gd name="adj" fmla="val 1875"/>
            </a:avLst>
          </a:prstGeom>
          <a:solidFill>
            <a:srgbClr val="101D3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383280"/>
            <a:ext cx="868680" cy="822960"/>
          </a:xfrm>
          <a:prstGeom prst="roundRect">
            <a:avLst>
              <a:gd name="adj" fmla="val 4444"/>
            </a:avLst>
          </a:prstGeom>
          <a:solidFill>
            <a:srgbClr val="254065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383280"/>
            <a:ext cx="868680" cy="822960"/>
          </a:xfrm>
          <a:prstGeom prst="roundRect">
            <a:avLst>
              <a:gd name="adj" fmla="val 4444"/>
            </a:avLst>
          </a:prstGeom>
          <a:solidFill>
            <a:srgbClr val="254065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3383280"/>
            <a:ext cx="868680" cy="822960"/>
          </a:xfrm>
          <a:prstGeom prst="roundRect">
            <a:avLst>
              <a:gd name="adj" fmla="val 4444"/>
            </a:avLst>
          </a:prstGeom>
          <a:solidFill>
            <a:srgbClr val="254065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PV + PV + PV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331720"/>
            <a:ext cx="2926080" cy="1508760"/>
          </a:xfrm>
          <a:prstGeom prst="roundRect">
            <a:avLst>
              <a:gd name="adj" fmla="val 3030"/>
            </a:avLst>
          </a:prstGeom>
          <a:solidFill>
            <a:srgbClr val="1A3653"/>
          </a:solidFill>
          <a:ln w="16510">
            <a:solidFill>
              <a:srgbClr val="47D5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VG_DATA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28375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2450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LV_APP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21040" y="3429000"/>
            <a:ext cx="2468880" cy="868680"/>
          </a:xfrm>
          <a:prstGeom prst="roundRect">
            <a:avLst>
              <a:gd name="adj" fmla="val 5263"/>
            </a:avLst>
          </a:prstGeom>
          <a:solidFill>
            <a:srgbClr val="28375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3730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LV_BACKUP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86200" y="3794760"/>
            <a:ext cx="457200" cy="-704088"/>
          </a:xfrm>
          <a:prstGeom prst="line">
            <a:avLst/>
          </a:prstGeom>
          <a:noFill/>
          <a:ln w="2032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60920" y="3063240"/>
            <a:ext cx="868680" cy="-457200"/>
          </a:xfrm>
          <a:prstGeom prst="line">
            <a:avLst/>
          </a:prstGeom>
          <a:noFill/>
          <a:ln w="20320">
            <a:solidFill>
              <a:srgbClr val="47D59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3063240"/>
            <a:ext cx="868680" cy="777240"/>
          </a:xfrm>
          <a:prstGeom prst="line">
            <a:avLst/>
          </a:prstGeom>
          <a:noFill/>
          <a:ln w="20320">
            <a:solidFill>
              <a:srgbClr val="47D59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200400" y="5166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PV → agrégation → VG → découpage → LV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STOCKAGE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Piège TP04 : agrandir le LV ≠ agrandir le filesystem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Deux tailles coexistent. Votre diagnostic doit distinguer les couches.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05740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lvextend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362102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bloc logique grandit.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lvs montre la nouvelle taille.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87452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4928" y="205740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resize2fs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424928" y="2505456"/>
            <a:ext cx="362102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filesystem utilise le nouvel espace.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df montre enfin la croissance.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3017520"/>
            <a:ext cx="2148840" cy="0"/>
          </a:xfrm>
          <a:prstGeom prst="line">
            <a:avLst/>
          </a:prstGeom>
          <a:noFill/>
          <a:ln w="3048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92024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“Mon LV fait 4 Go mais df n’affiche toujours que 2 Go.”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Quelle commande vous dit quelle couche a réellement grandi ?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lvs/lsblk pour le bloc ; df -hT pour le filesystem ; findmnt pour le montage.</a:t>
            </a:r>
            <a:endParaRPr lang="en-US" sz="9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PERSISTANCE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 mount manuel disparaît au reboot : /etc/fstab rend l’intention persistante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Préférez un identifiant stable comme UUID quand c’est pertinent.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806440" cy="3017520"/>
          </a:xfrm>
          <a:prstGeom prst="roundRect">
            <a:avLst>
              <a:gd name="adj" fmla="val 1818"/>
            </a:avLst>
          </a:prstGeom>
          <a:solidFill>
            <a:srgbClr val="050B18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5806440" cy="320040"/>
          </a:xfrm>
          <a:prstGeom prst="rect">
            <a:avLst/>
          </a:prstGeom>
          <a:solidFill>
            <a:srgbClr val="0E1A33"/>
          </a:solidFill>
          <a:ln w="12700">
            <a:solidFill>
              <a:srgbClr val="0E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D4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/etc/fstab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2286000"/>
            <a:ext cx="53858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blkid /dev/VG_DATA/LV_APP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UUID=...  /srv/app  ext4  defaults  0  2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sudo mount -a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D7F6E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findmnt /srv/app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201168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RÈGLE 1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04888" y="2459736"/>
            <a:ext cx="38953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Éditer fstab n’est pas une validation.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903720" y="315468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333756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RÈGLE 2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04888" y="3785616"/>
            <a:ext cx="38953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Tester mount -a AVANT de redémarrer.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903720" y="448056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4888" y="466344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RÈGLE 3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04888" y="5111496"/>
            <a:ext cx="38953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Prouver le montage avec findmnt.</a:t>
            </a:r>
            <a:endParaRPr lang="en-US" sz="12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MÉTHODE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 réflexe d’un administrateur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Une correction sans validation reste une hypothèse.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898648"/>
            <a:ext cx="265176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4144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MESURER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64261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2898648"/>
            <a:ext cx="265176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1596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713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HYPOTHÈSE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1713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898648"/>
            <a:ext cx="265176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048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9165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2898648"/>
            <a:ext cx="265176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6500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CORRIGER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6617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0" y="2898648"/>
            <a:ext cx="265176" cy="0"/>
          </a:xfrm>
          <a:prstGeom prst="line">
            <a:avLst/>
          </a:prstGeom>
          <a:noFill/>
          <a:ln w="19050">
            <a:solidFill>
              <a:srgbClr val="32D4E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39528" y="2240280"/>
            <a:ext cx="1536192" cy="1325880"/>
          </a:xfrm>
          <a:prstGeom prst="roundRect">
            <a:avLst>
              <a:gd name="adj" fmla="val 5517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0696" y="2423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VALIDER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140696" y="2871216"/>
            <a:ext cx="113385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16052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Exemple “nginx ne répond plus” : curl → ss → systemctl → journalctl → hypothèse → correction → curl.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85800" y="5230368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17264B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536752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78B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QUESTION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28800" y="5321808"/>
            <a:ext cx="8074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Pourquoi “restart” en premier peut-il être une mauvaise pratique ?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1828800" y="5586984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Il peut masquer le symptôme, modifier l’état et supprimer des éléments de diagnostic.</a:t>
            </a:r>
            <a:endParaRPr lang="en-US" sz="9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MISE EN SITUATION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Avant le TP : faites un diagnostic en 60 secondes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 de commande magique. Choisissez ce que vous voulez prouver.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6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“Le site local ne répond plus depuis l’installation d’une configuration.”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0632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— HTTP 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32688" y="3511296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99232" y="288036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0632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 — Port 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200400" y="3511296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66944" y="288036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30632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— Service 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68112" y="3511296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systemctl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34656" y="288036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30632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 — Logs 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735824" y="3511296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journalctl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02368" y="2880360"/>
            <a:ext cx="1901952" cy="1417320"/>
          </a:xfrm>
          <a:prstGeom prst="roundRect">
            <a:avLst>
              <a:gd name="adj" fmla="val 5161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03536" y="30632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 — Config ?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003536" y="3511296"/>
            <a:ext cx="14996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DE7F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nginx -t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Choisir l’ordre dépend du symptôme. L’important : chaque étape doit réduire l’espace des causes possibles.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2D4E7"/>
          </a:solidFill>
          <a:ln w="12700">
            <a:solidFill>
              <a:srgbClr val="32D4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10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2D4E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Passage en mode laboratoire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À partir de TP02, l’objectif est fourni mais pas toujours la commande.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B3_SRC_26_1  •  Linux SysAdmin Bootcamp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NovaTech Infrastructure Lab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75720" y="65196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EC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1947672" cy="1965960"/>
          </a:xfrm>
          <a:prstGeom prst="roundRect">
            <a:avLst>
              <a:gd name="adj" fmla="val 3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0574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TP00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" y="2505456"/>
            <a:ext cx="1545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Installation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45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874520"/>
            <a:ext cx="1947672" cy="1965960"/>
          </a:xfrm>
          <a:prstGeom prst="roundRect">
            <a:avLst>
              <a:gd name="adj" fmla="val 3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0574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35808" y="2505456"/>
            <a:ext cx="1545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Discovery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02352" y="1874520"/>
            <a:ext cx="1947672" cy="1965960"/>
          </a:xfrm>
          <a:prstGeom prst="roundRect">
            <a:avLst>
              <a:gd name="adj" fmla="val 3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574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3520" y="2505456"/>
            <a:ext cx="1545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Users / ACL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70064" y="1874520"/>
            <a:ext cx="1947672" cy="1965960"/>
          </a:xfrm>
          <a:prstGeom prst="roundRect">
            <a:avLst>
              <a:gd name="adj" fmla="val 3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20574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TP03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71232" y="2505456"/>
            <a:ext cx="1545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37776" y="1874520"/>
            <a:ext cx="1947672" cy="1965960"/>
          </a:xfrm>
          <a:prstGeom prst="roundRect">
            <a:avLst>
              <a:gd name="adj" fmla="val 3756"/>
            </a:avLst>
          </a:prstGeom>
          <a:solidFill>
            <a:srgbClr val="152447"/>
          </a:solidFill>
          <a:ln w="12700">
            <a:solidFill>
              <a:srgbClr val="3346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38944" y="205740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TP04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38944" y="2505456"/>
            <a:ext cx="1545336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LVM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7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h 15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40280" y="43434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47D59C">
              <a:alpha val="90000"/>
            </a:srgbClr>
          </a:solidFill>
          <a:ln w="12700">
            <a:solidFill>
              <a:srgbClr val="47D5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4165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🟢 GUIDÉ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43434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44165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🟠 CHALLENGE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49640" y="434340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6B6B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4165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5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🔴 EXPERT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" y="50749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Validation : ./scripts/checks/check-tpXX.sh  •  Livrables : /livrables  •  Travaillez avec man et --help.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NovaTech Infrastructure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B3_SRC_26_1 — Système d’exploitation Linux</dc:subject>
  <dc:creator>Gaëtan Perruche — B3 SRC</dc:creator>
  <cp:lastModifiedBy>Gaëtan Perruche — B3 SRC</cp:lastModifiedBy>
  <cp:revision>1</cp:revision>
  <dcterms:created xsi:type="dcterms:W3CDTF">2026-09-04T11:50:01Z</dcterms:created>
  <dcterms:modified xsi:type="dcterms:W3CDTF">2026-09-04T11:50:01Z</dcterms:modified>
</cp:coreProperties>
</file>